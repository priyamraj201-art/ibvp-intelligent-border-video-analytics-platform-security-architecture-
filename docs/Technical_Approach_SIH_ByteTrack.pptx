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7d852a3bc643c4" /><Relationship Type="http://schemas.openxmlformats.org/officeDocument/2006/relationships/extended-properties" Target="/docProps/app.xml" Id="R0d6d0a2cd9e84748" /><Relationship Type="http://schemas.openxmlformats.org/officeDocument/2006/relationships/officeDocument" Target="/ppt/presentation.xml" Id="Rb9ea2901844a41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cdc96dace644cc"/>
  </p:sldMasterIdLst>
  <p:notesMasterIdLst>
    <p:notesMasterId xmlns:r="http://schemas.openxmlformats.org/officeDocument/2006/relationships" r:id="Refd5c9b1d2464654"/>
  </p:notesMasterIdLst>
  <p:sldIdLst>
    <p:sldId xmlns:r="http://schemas.openxmlformats.org/officeDocument/2006/relationships" id="256" r:id="R131c1ea594a443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d98357ba54142" /><Relationship Type="http://schemas.openxmlformats.org/officeDocument/2006/relationships/slideMaster" Target="/ppt/slideMasters/slideMaster1.xml" Id="R9fcdc96dace644cc" /><Relationship Type="http://schemas.openxmlformats.org/officeDocument/2006/relationships/notesMaster" Target="/ppt/notesMasters/notesMaster1.xml" Id="Refd5c9b1d2464654" /><Relationship Type="http://schemas.openxmlformats.org/officeDocument/2006/relationships/presProps" Target="/ppt/presProps.xml" Id="R33e59a0fcdd4410c" /><Relationship Type="http://schemas.openxmlformats.org/officeDocument/2006/relationships/tableStyles" Target="/ppt/tableStyles.xml" Id="R7bf19eae36d84672" /><Relationship Type="http://schemas.openxmlformats.org/officeDocument/2006/relationships/slide" Target="/ppt/slides/slide1.xml" Id="R131c1ea594a443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63e3e032a5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f40b781cda44b5" /><Relationship Type="http://schemas.openxmlformats.org/officeDocument/2006/relationships/notesMaster" Target="/ppt/notesMasters/notesMaster1.xml" Id="Rfb9c4c804a864e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ad8f052ea46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70c78970284b20" /><Relationship Type="http://schemas.openxmlformats.org/officeDocument/2006/relationships/slideLayout" Target="/ppt/slideLayouts/slideLayout1.xml" Id="R4beb1438b6f84d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b1438b6f84d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b81783e384281" /><Relationship Type="http://schemas.openxmlformats.org/officeDocument/2006/relationships/notesSlide" Target="/ppt/notesSlides/notesSlide1.xml" Id="Ra8918d08466941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9E13D9-FAFA-4A68-A3D2-2635DA34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8"/>
          </a:solidFill>
          <a:ln xmlns:a="http://schemas.openxmlformats.org/drawingml/2006/main" w="0">
            <a:solidFill>
              <a:srgbClr val="E9F0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6CEB1-B59C-4F20-9AEB-C1A3F88C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4125"/>
            <a:ext cx="1219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F5957-E6FE-4B40-8B32-818BD84F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8585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5B9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02A4A"/>
                </a:solidFill>
              </a:defRPr>
            </a:pPr>
            <a:r>
              <a:rPr sz="975" b="1">
                <a:solidFill>
                  <a:srgbClr val="302A4A"/>
                </a:solidFill>
              </a:rPr>
              <a:t>TEAM</a:t>
            </a:r>
          </a:p>
          <a:p xmlns:a="http://schemas.openxmlformats.org/drawingml/2006/main">
            <a:pPr algn="ctr">
              <a:defRPr sz="975" b="1">
                <a:solidFill>
                  <a:srgbClr val="302A4A"/>
                </a:solidFill>
              </a:defRPr>
            </a:pPr>
            <a:r>
              <a:rPr sz="975" b="1">
                <a:solidFill>
                  <a:srgbClr val="302A4A"/>
                </a:solidFill>
              </a:rPr>
              <a:t>AIKYAM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D66EC-6D51-4196-8190-5E11E01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52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TECHNICAL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CA33-2287-4491-A8A4-EDE51F34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3342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6718B"/>
                </a:solidFill>
              </a:defRPr>
            </a:pPr>
            <a:r>
              <a:rPr sz="900" b="1">
                <a:solidFill>
                  <a:srgbClr val="56718B"/>
                </a:solidFill>
              </a:rPr>
              <a:t>AI-ENABLED CCTV INTELLIGENCE &amp; SECURITY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D05A2-FF42-4A71-9FE2-DB997984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6B3"/>
                </a:solidFill>
              </a:defRPr>
            </a:pPr>
            <a:r>
              <a:rPr sz="1125" b="1">
                <a:solidFill>
                  <a:srgbClr val="0066B3"/>
                </a:solidFill>
              </a:rPr>
              <a:t>SMART INDIA HACKATHON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042D9-E6A9-489E-AEA5-AC7A7849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00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9A33A"/>
                </a:solidFill>
              </a:defRPr>
            </a:pPr>
            <a:r>
              <a:rPr sz="750" b="1">
                <a:solidFill>
                  <a:srgbClr val="79A33A"/>
                </a:solidFill>
              </a:rPr>
              <a:t>AI • VISION •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5D393-673E-4569-9A1D-302D97D3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A61"/>
                </a:solidFill>
              </a:defRPr>
            </a:pPr>
            <a:r>
              <a:rPr sz="1725" b="1">
                <a:solidFill>
                  <a:srgbClr val="123A61"/>
                </a:solidFill>
              </a:rPr>
              <a:t>How the system 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9185B-B800-44B8-ACD7-BA7A2EE1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6B3"/>
                </a:solidFill>
              </a:defRPr>
            </a:pPr>
            <a:r>
              <a:rPr sz="1500" b="1">
                <a:solidFill>
                  <a:srgbClr val="0066B3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E06A9-C067-42A9-9EEA-947F038D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303030"/>
                </a:solidFill>
              </a:defRPr>
            </a:pPr>
            <a:r>
              <a:rPr sz="1163">
                <a:solidFill>
                  <a:srgbClr val="303030"/>
                </a:solidFill>
              </a:rPr>
              <a:t>Captures real-time CCTV, IP-camera, webcam, or video input.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E7CC3-A592-4496-B6A4-7B57F39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6B3"/>
                </a:solidFill>
              </a:defRPr>
            </a:pPr>
            <a:r>
              <a:rPr sz="1500" b="1">
                <a:solidFill>
                  <a:srgbClr val="0066B3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1C4B8-0E89-4728-AF3E-D5376114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303030"/>
                </a:solidFill>
              </a:defRPr>
            </a:pPr>
            <a:r>
              <a:rPr sz="1163">
                <a:solidFill>
                  <a:srgbClr val="303030"/>
                </a:solidFill>
              </a:rPr>
              <a:t>YOLOX detects people, vehicles, and other configured classes in each frame.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307D9-EEE6-4A80-B239-2E0D7073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6B3"/>
                </a:solidFill>
              </a:defRPr>
            </a:pPr>
            <a:r>
              <a:rPr sz="1500" b="1">
                <a:solidFill>
                  <a:srgbClr val="0066B3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0D3D0-6452-43BD-8932-D72EAF16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303030"/>
                </a:solidFill>
              </a:defRPr>
            </a:pPr>
            <a:r>
              <a:rPr sz="1163">
                <a:solidFill>
                  <a:srgbClr val="303030"/>
                </a:solidFill>
              </a:rPr>
              <a:t>ByteTrack maintains a stable identity for every detected target across frames.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344D4-316A-4A3D-A97B-919578D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670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6B3"/>
                </a:solidFill>
              </a:defRPr>
            </a:pPr>
            <a:r>
              <a:rPr sz="1500" b="1">
                <a:solidFill>
                  <a:srgbClr val="0066B3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DAA98-2031-48A6-A8CA-56ADF39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303030"/>
                </a:solidFill>
              </a:defRPr>
            </a:pPr>
            <a:r>
              <a:rPr sz="1163">
                <a:solidFill>
                  <a:srgbClr val="303030"/>
                </a:solidFill>
              </a:rPr>
              <a:t>The routing layer sends people to motion alerts and vehicles to ANPR.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1424D-340A-48F5-9C49-267D2268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6B3"/>
                </a:solidFill>
              </a:defRPr>
            </a:pPr>
            <a:r>
              <a:rPr sz="1500" b="1">
                <a:solidFill>
                  <a:srgbClr val="0066B3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0EDF6-540C-4690-8A66-C337F970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303030"/>
                </a:solidFill>
              </a:defRPr>
            </a:pPr>
            <a:r>
              <a:rPr sz="1163">
                <a:solidFill>
                  <a:srgbClr val="303030"/>
                </a:solidFill>
              </a:rPr>
              <a:t>Recognized plates are matched with the security watchlist and logged for audit.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60272-3CFA-4A46-83CE-B7968E80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504825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877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A0FA5-0C4B-405B-864D-2A3EAE98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76450"/>
            <a:ext cx="504825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877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E4B37-B5CE-4AC0-BB26-3BDA3EC3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76450"/>
            <a:ext cx="504825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87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19D06-2195-4DA3-90FD-1EC679F3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0" cy="523875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877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FC9A4-4884-42B4-9DE0-CEC031C6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877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749DF-FF41-47C4-A083-03F07A63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877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69501E-A4FE-4578-975F-9929EE95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877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55DD1-8D04-4B52-B2E9-96CE8B8F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62375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877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95555-87E6-4267-9FE2-B66BFBE5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79A3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0B524-F537-4B61-AC5F-84C7A5D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904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A52A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VIDEO 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71A9BB-AA91-4A36-996A-EDEED50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14500"/>
            <a:ext cx="1152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2A2A8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YOLOX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A93658-2F5A-4BA5-8EE9-9FBFAE3E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14500"/>
            <a:ext cx="1152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6C63A8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BYTETRACK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IDENTITY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B926AD-EE9B-4324-A5EA-0DB2BED7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1123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877C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CLASS-AWARE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ROUTING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B55A51-0D90-4026-80CC-8ED2ABDC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95625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1782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HUMAN TRACKS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93DCC-2C52-4D90-835D-E6C768C2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95625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9C81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VEHICLE TRACKS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3AC625-3E68-411B-AF4C-9419CCF8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38625"/>
            <a:ext cx="1714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39A3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MOTION ENGINE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Speed • trail • alerts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277917-9BD4-46AD-B7C2-AEE12899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38625"/>
            <a:ext cx="1714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78B72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ANPR ENGINE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Plate OCR • watchlist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9F5866-2E1B-4F50-8711-3B18857E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D548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SECURITY DASHBOARD &amp; AUDIT LOG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C620BE-D85D-4542-BBB9-986AAA4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527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F6F7F"/>
                </a:solidFill>
              </a:defRPr>
            </a:pPr>
            <a:r>
              <a:rPr sz="825" b="1">
                <a:solidFill>
                  <a:srgbClr val="5F6F7F"/>
                </a:solidFill>
              </a:rPr>
              <a:t>AI inference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A1B760-0805-4EFD-BA27-4E741268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F6F7F"/>
                </a:solidFill>
              </a:defRPr>
            </a:pPr>
            <a:r>
              <a:rPr sz="825" b="1">
                <a:solidFill>
                  <a:srgbClr val="5F6F7F"/>
                </a:solidFill>
              </a:rPr>
              <a:t>Persistent IDs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7F8F8D-9BAD-4FBB-BC34-CD092070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00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8A4A00"/>
                </a:solidFill>
              </a:defRPr>
            </a:pPr>
            <a:r>
              <a:rPr sz="900">
                <a:solidFill>
                  <a:srgbClr val="8A4A00"/>
                </a:solidFill>
              </a:rPr>
              <a:t>Motion anomalies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78168E-69B6-4540-85AE-6642EF58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00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26D5A"/>
                </a:solidFill>
              </a:defRPr>
            </a:pPr>
            <a:r>
              <a:rPr sz="900">
                <a:solidFill>
                  <a:srgbClr val="126D5A"/>
                </a:solidFill>
              </a:rPr>
              <a:t>Flagged plate alerts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5CCC00-B555-4422-8CCD-1101CDEF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864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A61"/>
                </a:solidFill>
              </a:defRPr>
            </a:pPr>
            <a:r>
              <a:rPr sz="1500" b="1">
                <a:solidFill>
                  <a:srgbClr val="123A61"/>
                </a:solidFill>
              </a:rPr>
              <a:t>Technologies &amp; Tools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6D8986-3ECA-4798-9EE7-61A016C1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15025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64F68"/>
                </a:solidFill>
              </a:defRPr>
            </a:pPr>
            <a:r>
              <a:rPr sz="975" b="1">
                <a:solidFill>
                  <a:srgbClr val="364F68"/>
                </a:solidFill>
              </a:rPr>
              <a:t>Python  •  PyTorch  •  YOLOX  •  ByteTrack  •  OpenCV  •  EasyOCR / PaddleOCR  •  SQLite  •  ONNX / TensorRT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620DCF-AA03-4AAD-8556-384424FA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@SIH Idea Submission – Technical Approach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718C7C-9FAD-4CB3-A0AB-65D36E07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5361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2026-08-28T09:24:32.0110000Z</dcterms:created>
  <dcterms:modified xsi:type="dcterms:W3CDTF">2026-08-28T09:24:32.0110000Z</dcterms:modified>
</coreProperties>
</file>